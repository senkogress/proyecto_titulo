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OcpiE8zxX6FK0GYtBYfRZ7wWg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0fd8ba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a0fd8baf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0fd8baf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a0fd8ba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“Gestock”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 · EXPOSICIÓN IDEA DE PROYECTO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15117" l="30228" r="29101" t="17263"/>
          <a:stretch/>
        </p:blipFill>
        <p:spPr>
          <a:xfrm>
            <a:off x="668349" y="441337"/>
            <a:ext cx="1817675" cy="1649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4121026" y="1710819"/>
            <a:ext cx="7633494" cy="4349491"/>
            <a:chOff x="0" y="0"/>
            <a:chExt cx="7633494" cy="4349491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7633494" cy="20711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733817" y="0"/>
              <a:ext cx="5899676" cy="2071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s-CL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David Miranda Tobar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Desarrollador Frontend &amp; Integración de IA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Diseño y desarrollo de la interfaz de usuario y experiencia de usuario (SPA en React).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del Punto de Venta (POS) y visualización del catálogo.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Implementación del flujo de captura y procesamiento de facturas mediante la API de Gemini OCR.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Consumo de servicios RESTful y sincronización de estado de la aplicación.</a:t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207118" y="207118"/>
              <a:ext cx="1526698" cy="1656949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2278305"/>
              <a:ext cx="7633494" cy="20711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733817" y="2278305"/>
              <a:ext cx="5899676" cy="20711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b="0" i="0" lang="es-CL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Marcelo Pino Valverde 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Desarrollador Backend &amp; Arquitectura de Datos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Calibri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Diseño y modelado del esquema relacional de base de datos (PostgreSQL).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la API RESTful y lógica transaccional de negocio (Node.js / Express).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Implementación de mecanismos de seguridad, autenticación (JWT) y middlewares.</a:t>
              </a:r>
              <a:endParaRPr/>
            </a:p>
            <a:p>
              <a:pPr indent="-114300" lvl="2" marL="228600" marR="0" rtl="0" algn="l">
                <a:lnSpc>
                  <a:spcPct val="90000"/>
                </a:lnSpc>
                <a:spcBef>
                  <a:spcPts val="195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•"/>
              </a:pPr>
              <a:r>
                <a:rPr b="0" i="0" lang="es-CL" sz="1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Estructuración de la persistencia de datos y control de integridad de inventario.</a:t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07118" y="2485423"/>
              <a:ext cx="1526698" cy="1656949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“Gestock”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 b="15117" l="30228" r="29101" t="17263"/>
          <a:stretch/>
        </p:blipFill>
        <p:spPr>
          <a:xfrm>
            <a:off x="2238375" y="150390"/>
            <a:ext cx="647699" cy="587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“Gestock”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0" y="2169775"/>
            <a:ext cx="4348800" cy="46077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Ingreso manual e ineficiente:</a:t>
            </a:r>
            <a:r>
              <a:rPr lang="es-CL" sz="1300">
                <a:solidFill>
                  <a:schemeClr val="dk1"/>
                </a:solidFill>
              </a:rPr>
              <a:t> Los dueños de minimarkets gastan horas digitando manualmente las facturas de proveedores, lo que genera demoras y alta tasa de errores humanos.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Descontrol de stock y pérdidas:</a:t>
            </a:r>
            <a:r>
              <a:rPr lang="es-CL" sz="1300">
                <a:solidFill>
                  <a:schemeClr val="dk1"/>
                </a:solidFill>
              </a:rPr>
              <a:t> Desfase constante entre el inventario físico y el registrado, provocando quiebres de stock o mermas no detectadas.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Sistemas obsoletos o costosos:</a:t>
            </a:r>
            <a:r>
              <a:rPr lang="es-CL" sz="1300">
                <a:solidFill>
                  <a:schemeClr val="dk1"/>
                </a:solidFill>
              </a:rPr>
              <a:t> Las soluciones tradicionales de POS son complejas, requieren hardware especializado o no están adaptadas a la agilidad que exige el comercio local.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Aplicación Híbrida (Offline-first):</a:t>
            </a:r>
            <a:r>
              <a:rPr lang="es-CL" sz="1300">
                <a:solidFill>
                  <a:schemeClr val="dk1"/>
                </a:solidFill>
              </a:rPr>
              <a:t> Sistema moderno de Punto de Venta (POS) con funcionamiento local y sincronización SaaS.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Automatización con IA (OCR):</a:t>
            </a:r>
            <a:r>
              <a:rPr lang="es-CL" sz="1300">
                <a:solidFill>
                  <a:schemeClr val="dk1"/>
                </a:solidFill>
              </a:rPr>
              <a:t> Extracción instantánea y estructurada de datos desde imágenes o PDFs de facturas, eliminando la digitación manual.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CL" sz="1300">
                <a:solidFill>
                  <a:schemeClr val="dk1"/>
                </a:solidFill>
              </a:rPr>
              <a:t>Control transaccional en tiempo real:</a:t>
            </a:r>
            <a:r>
              <a:rPr lang="es-CL" sz="1300">
                <a:solidFill>
                  <a:schemeClr val="dk1"/>
                </a:solidFill>
              </a:rPr>
              <a:t> Actualización automática del catálogo y stock con cada venta o ingreso de mercadería, asegurando trazabilidad y consistencia.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4">
            <a:alphaModFix/>
          </a:blip>
          <a:srcRect b="15117" l="30228" r="29101" t="17263"/>
          <a:stretch/>
        </p:blipFill>
        <p:spPr>
          <a:xfrm>
            <a:off x="2238375" y="150390"/>
            <a:ext cx="647699" cy="587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“Gestock”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136188" y="202205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4" name="Google Shape;124;p4"/>
          <p:cNvSpPr/>
          <p:nvPr/>
        </p:nvSpPr>
        <p:spPr>
          <a:xfrm>
            <a:off x="750740" y="3697709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un Producto Mínimo Viable (MVP) de una Aplicación Offline first con sincronización SaaS (Gestock) orientada a la gestión predictiva de inventario, con el fin de automatizar el abastecimiento, optimizar el control de stock y digitalizar las ventas en pequeñas y medianas empresas comerciales.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4">
            <a:alphaModFix/>
          </a:blip>
          <a:srcRect b="15117" l="30228" r="29101" t="17263"/>
          <a:stretch/>
        </p:blipFill>
        <p:spPr>
          <a:xfrm>
            <a:off x="2238375" y="150390"/>
            <a:ext cx="647699" cy="587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g3fa0fd8baf8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fa0fd8baf8_0_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“Gestock”</a:t>
            </a:r>
            <a:endParaRPr/>
          </a:p>
        </p:txBody>
      </p:sp>
      <p:cxnSp>
        <p:nvCxnSpPr>
          <p:cNvPr id="132" name="Google Shape;132;g3fa0fd8baf8_0_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3" name="Google Shape;133;g3fa0fd8baf8_0_1"/>
          <p:cNvSpPr txBox="1"/>
          <p:nvPr/>
        </p:nvSpPr>
        <p:spPr>
          <a:xfrm>
            <a:off x="1" y="80240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a0fd8baf8_0_1"/>
          <p:cNvSpPr/>
          <p:nvPr/>
        </p:nvSpPr>
        <p:spPr>
          <a:xfrm>
            <a:off x="750750" y="1513100"/>
            <a:ext cx="10962900" cy="561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s-CL" sz="1300">
                <a:solidFill>
                  <a:schemeClr val="dk1"/>
                </a:solidFill>
              </a:rPr>
              <a:t>Diseñar e implementar una arquitectura de persistencia dual</a:t>
            </a:r>
            <a:r>
              <a:rPr lang="es-CL" sz="1300">
                <a:solidFill>
                  <a:schemeClr val="dk1"/>
                </a:solidFill>
              </a:rPr>
              <a:t>, integrando una base de datos local (SQLite) para garantizar la operatividad offline del Punto de Venta, y un modelo relacional en la nube (PostgreSQL, 15 tablas) que soporte transacciones ACID y aislamiento de información (Multi-Tenant) para la plataforma SaaS.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s-CL" sz="1300">
                <a:solidFill>
                  <a:schemeClr val="dk1"/>
                </a:solidFill>
              </a:rPr>
              <a:t>Desarrollar una aplicación de escritorio nativa</a:t>
            </a:r>
            <a:r>
              <a:rPr lang="es-CL" sz="1300">
                <a:solidFill>
                  <a:schemeClr val="dk1"/>
                </a:solidFill>
              </a:rPr>
              <a:t> empaquetando un cliente frontend modular (React SPA) mediante </a:t>
            </a:r>
            <a:r>
              <a:rPr b="1" lang="es-CL" sz="1300">
                <a:solidFill>
                  <a:schemeClr val="dk1"/>
                </a:solidFill>
              </a:rPr>
              <a:t>Electron</a:t>
            </a:r>
            <a:r>
              <a:rPr lang="es-CL" sz="1300">
                <a:solidFill>
                  <a:schemeClr val="dk1"/>
                </a:solidFill>
              </a:rPr>
              <a:t>, que integre un Punto de Venta (POS) capaz de funcionar sin conexión a internet y un dashboard de visualización de KPIs.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s-CL" sz="1300">
                <a:solidFill>
                  <a:schemeClr val="dk1"/>
                </a:solidFill>
              </a:rPr>
              <a:t>Construir un servidor API Backend (Node.js/Express) seguro</a:t>
            </a:r>
            <a:r>
              <a:rPr lang="es-CL" sz="1300">
                <a:solidFill>
                  <a:schemeClr val="dk1"/>
                </a:solidFill>
              </a:rPr>
              <a:t> que gestione la sincronización asíncrona de los datos locales hacia la nube, aplicando protección contra inyecciones (SQL/NoSQL) y autorización basada en JSON Web Tokens (JWT).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s-CL" sz="1300">
                <a:solidFill>
                  <a:schemeClr val="dk1"/>
                </a:solidFill>
              </a:rPr>
              <a:t>Integrar el motor de Inteligencia Artificial (Google AI Studio)</a:t>
            </a:r>
            <a:r>
              <a:rPr lang="es-CL" sz="1300">
                <a:solidFill>
                  <a:schemeClr val="dk1"/>
                </a:solidFill>
              </a:rPr>
              <a:t> para la ingesta automatizada de facturas mediante tecnología OCR, transformando imágenes base64 en registros de base de datos estructurados.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s-CL" sz="1300">
                <a:solidFill>
                  <a:schemeClr val="dk1"/>
                </a:solidFill>
              </a:rPr>
              <a:t>Desarrollar un orquestador de notificaciones</a:t>
            </a:r>
            <a:r>
              <a:rPr lang="es-CL" sz="1300">
                <a:solidFill>
                  <a:schemeClr val="dk1"/>
                </a:solidFill>
              </a:rPr>
              <a:t> capaz de interactuar con el E-mail/WhatsApp del usuario para enviar alertas de bajo stock y sugerencias de compra.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s-CL" sz="1300">
                <a:solidFill>
                  <a:schemeClr val="dk1"/>
                </a:solidFill>
              </a:rPr>
              <a:t>Integrar el sistema con pasarelas y terminales de pago</a:t>
            </a:r>
            <a:r>
              <a:rPr lang="es-CL" sz="1300">
                <a:solidFill>
                  <a:schemeClr val="dk1"/>
                </a:solidFill>
              </a:rPr>
              <a:t> del mercado chileno (Transbank, Mercado Pago y SumUp) mediante sus respectivos ambientes de prueba (sandbox), de modo que el software reciba la confirmación de cada transacción y actualice automáticamente el registro de ventas y el stock correspondiente.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s-CL" sz="1300">
                <a:solidFill>
                  <a:schemeClr val="dk1"/>
                </a:solidFill>
              </a:rPr>
              <a:t>Desarrollar una sección de productos en tendencia (trending)</a:t>
            </a:r>
            <a:r>
              <a:rPr lang="es-CL" sz="1300">
                <a:solidFill>
                  <a:schemeClr val="dk1"/>
                </a:solidFill>
              </a:rPr>
              <a:t> mediante conexión con las APIs públicas de plataformas como Mercado Libre y AliExpress, con el fin de enriquecer el módulo de gestión predictiva con señales de demanda de mercado que apoyen las decisiones de abastecimiento.</a:t>
            </a:r>
            <a:endParaRPr sz="13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s-CL" sz="1300">
                <a:solidFill>
                  <a:schemeClr val="dk1"/>
                </a:solidFill>
              </a:rPr>
              <a:t>Ejecutar una batería de pruebas de software</a:t>
            </a:r>
            <a:r>
              <a:rPr lang="es-CL" sz="1300">
                <a:solidFill>
                  <a:schemeClr val="dk1"/>
                </a:solidFill>
              </a:rPr>
              <a:t> (unitarias, integración y rendimiento) para certificar la estabilidad, seguridad, correcta sincronización de datos y baja latencia del sistema.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5" name="Google Shape;135;g3fa0fd8baf8_0_1"/>
          <p:cNvPicPr preferRelativeResize="0"/>
          <p:nvPr/>
        </p:nvPicPr>
        <p:blipFill rotWithShape="1">
          <a:blip r:embed="rId4">
            <a:alphaModFix/>
          </a:blip>
          <a:srcRect b="15119" l="30226" r="29104" t="17263"/>
          <a:stretch/>
        </p:blipFill>
        <p:spPr>
          <a:xfrm>
            <a:off x="2238375" y="150390"/>
            <a:ext cx="647698" cy="587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“Gestock”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0" y="104324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43" name="Google Shape;14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4" name="Google Shape;144;p5"/>
          <p:cNvSpPr txBox="1"/>
          <p:nvPr/>
        </p:nvSpPr>
        <p:spPr>
          <a:xfrm>
            <a:off x="775943" y="1739929"/>
            <a:ext cx="109125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</a:rPr>
              <a:t>Alcances (Lo que el proyecto SÍ hará)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Aplicación Híbrida (Offline-first):</a:t>
            </a:r>
            <a:r>
              <a:rPr lang="es-CL" sz="1500">
                <a:solidFill>
                  <a:schemeClr val="dk1"/>
                </a:solidFill>
              </a:rPr>
              <a:t> Desarrollo de una aplicación de Punto de Venta (POS) capaz de operar de forma local para la gestión de caja, con sincronización hacia una plataforma web.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Gestión de Inventario Activa:</a:t>
            </a:r>
            <a:r>
              <a:rPr lang="es-CL" sz="1500">
                <a:solidFill>
                  <a:schemeClr val="dk1"/>
                </a:solidFill>
              </a:rPr>
              <a:t> Control de stock en tiempo real, creación de catálogos y trazabilidad de productos.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Ingesta Automatizada:</a:t>
            </a:r>
            <a:r>
              <a:rPr lang="es-CL" sz="1500">
                <a:solidFill>
                  <a:schemeClr val="dk1"/>
                </a:solidFill>
              </a:rPr>
              <a:t> Procesamiento de facturas de proveedores mediante IA (Google Gemini OCR) para extraer datos en formato JSON y actualizar el inventario automáticamente.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Arquitectura Segura:</a:t>
            </a:r>
            <a:r>
              <a:rPr lang="es-CL" sz="1500">
                <a:solidFill>
                  <a:schemeClr val="dk1"/>
                </a:solidFill>
              </a:rPr>
              <a:t> Implementación de roles de usuario (Administrador y Cajero) protegidos mediante autenticación por tokens (JWT).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chemeClr val="dk1"/>
                </a:solidFill>
              </a:rPr>
              <a:t>Limitaciones (Lo que el proyecto NO hará o sus restricciones)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Integración Fiscal (SII):</a:t>
            </a:r>
            <a:r>
              <a:rPr lang="es-CL" sz="1500">
                <a:solidFill>
                  <a:schemeClr val="dk1"/>
                </a:solidFill>
              </a:rPr>
              <a:t> El sistema es de uso interno para control de gestión; no contempla la conexión con el Servicio de Impuestos Internos (SII) para la emisión de boletas o facturas electrónicas válidas legalmente.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Hardware Específico:</a:t>
            </a:r>
            <a:r>
              <a:rPr lang="es-CL" sz="1500">
                <a:solidFill>
                  <a:schemeClr val="dk1"/>
                </a:solidFill>
              </a:rPr>
              <a:t> No se desarrollarán integraciones de bajo nivel con hardware de pago de terceros de ecosistemas cerrados (ej. máquinas Tuu) ni impresoras físicas.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Dependencia de la IA y Calidad de Imagen:</a:t>
            </a:r>
            <a:r>
              <a:rPr lang="es-CL" sz="1500">
                <a:solidFill>
                  <a:schemeClr val="dk1"/>
                </a:solidFill>
              </a:rPr>
              <a:t> La exactitud de la extracción de datos depende de la legibilidad de la foto o PDF subido. Además, operará bajo los límites de peticiones del nivel gratuito (Free Tier) de Google AI Studio.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CL" sz="1500">
                <a:solidFill>
                  <a:schemeClr val="dk1"/>
                </a:solidFill>
              </a:rPr>
              <a:t>Plataforma Exclusiva:</a:t>
            </a:r>
            <a:r>
              <a:rPr lang="es-CL" sz="1500">
                <a:solidFill>
                  <a:schemeClr val="dk1"/>
                </a:solidFill>
              </a:rPr>
              <a:t> El desarrollo está enfocado en una solución de escritorio/web responsive, por lo que no se compilarán aplicaciones móviles nativas (iOS/Android).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4">
            <a:alphaModFix/>
          </a:blip>
          <a:srcRect b="15117" l="30228" r="29101" t="17263"/>
          <a:stretch/>
        </p:blipFill>
        <p:spPr>
          <a:xfrm>
            <a:off x="2238375" y="150390"/>
            <a:ext cx="647699" cy="587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“Gestock”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0" y="101266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4" name="Google Shape;154;p6"/>
          <p:cNvSpPr txBox="1"/>
          <p:nvPr/>
        </p:nvSpPr>
        <p:spPr>
          <a:xfrm>
            <a:off x="431321" y="1711680"/>
            <a:ext cx="10929600" cy="6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se abordará mediante la metodología </a:t>
            </a: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RUP (Rational Unified Process)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la cual tiene una naturaleza iterativa y evolutiva. Su propósito principal es mitigar riesgos y asegurar la estabilidad, con un fuerte enfoque en la arquitectura del software y los casos de uso.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ciclo de vida de RUP se organiza en cuatro fases que se alinean perfectamente con los tiempos académicos requeridos para el desarrollo de la plataforma: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Incepción y Elaboración (Correspondiente a la Fase 1):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enfoca en la definición del alcance, la justificación del proyecto (Business Case), el análisis detallado de los requisitos y el diseño de la arquitectura base.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Construcción (Correspondiente a la Fase 2):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Implementación incremental del software. Durante esta etapa se desarrollarán el Backend, Frontend y la integración del OCR de Google AI Studio, mitigando los riesgos tecnológicos en ciclos iterativos.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Transición (Correspondiente a la Fase 3):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Despliegue y entrega del producto al usuario final, incluyendo las pruebas de estrés, el despliegue del MVP y la presentación final.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 y Responsabilidades: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Marcelo Pino (Ingeniería Backend, Bases de Datos, Infraestructura Docker y QA) y David Miranda (Desarrollo Frontend React, Integraciones de APIs Externas y UI/UX).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 b="15117" l="30228" r="29101" t="17263"/>
          <a:stretch/>
        </p:blipFill>
        <p:spPr>
          <a:xfrm>
            <a:off x="2238375" y="150390"/>
            <a:ext cx="647699" cy="587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“Gestock”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0" y="899638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</p:txBody>
      </p:sp>
      <p:cxnSp>
        <p:nvCxnSpPr>
          <p:cNvPr id="163" name="Google Shape;163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 b="15117" l="30228" r="29101" t="17263"/>
          <a:stretch/>
        </p:blipFill>
        <p:spPr>
          <a:xfrm>
            <a:off x="2238375" y="150390"/>
            <a:ext cx="647699" cy="58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350" y="1687600"/>
            <a:ext cx="10847974" cy="48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“Gestock”</a:t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0" y="114531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Stack Tecnológico</a:t>
            </a:r>
            <a:endParaRPr/>
          </a:p>
        </p:txBody>
      </p:sp>
      <p:cxnSp>
        <p:nvCxnSpPr>
          <p:cNvPr id="173" name="Google Shape;173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15117" l="30228" r="29101" t="17263"/>
          <a:stretch/>
        </p:blipFill>
        <p:spPr>
          <a:xfrm>
            <a:off x="2238375" y="150390"/>
            <a:ext cx="647699" cy="58787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>
            <a:off x="519052" y="1872424"/>
            <a:ext cx="114264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CL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Inteligencia Artificial (Servicio Externo):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AI Studio (API Gemini):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Integración del modelo Gemini (1.5 Flash) para el procesamiento OCR multimodal, permitiendo la extracción rápida y estructurada (JSON) de las facturas de proveedores.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CL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Fron-tend (Aplicación Cliente)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React.js: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300">
                <a:solidFill>
                  <a:schemeClr val="dk1"/>
                </a:solidFill>
              </a:rPr>
              <a:t>empaquetando un cliente frontend modular (React SPA) mediante </a:t>
            </a:r>
            <a:r>
              <a:rPr b="1" lang="es-CL" sz="1300">
                <a:solidFill>
                  <a:schemeClr val="dk1"/>
                </a:solidFill>
              </a:rPr>
              <a:t>Electron,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garantizar una interfaz de usuario rápida, reactiva y sin recargas, ideal para la agilidad que requiere el Punto de Venta (POS).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CL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(Servidor y Lógica de Negocio):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 con Express: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Construcción de una API RESTful asíncrona, ligera y escalable para gestionar las peticiones del cliente y la comunicación con servicios externos.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JWT (JSON Web Tokens):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Implementación de seguridad y control de acceso mediante tokens para validar las sesiones de administradores y cajeros.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CL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(Persistencia):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PostgreSQL: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Motor de base de datos relacional robusto, elegido por su alta fiabilidad para manejar las transacciones financieras y mantener la estricta integridad del inventario.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s-CL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Infraestructura y Despliegue:</a:t>
            </a:r>
            <a:endParaRPr sz="1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Docker:</a:t>
            </a: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Contenerización de los servicios del backend y la base de datos para asegurar un entorno de desarrollo estandarizado y facilitar su futuro despliegue en producción.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a0fd8baf8_1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